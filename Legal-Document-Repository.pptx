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embeddedFontLst>
    <p:embeddedFont>
      <p:font typeface="Raleway Bold"/>
      <p:regular r:id="rId201314"/>
    </p:embeddedFont>
    <p:embeddedFont>
      <p:font typeface="Raleway"/>
      <p:regular r:id="rId201315"/>
    </p:embeddedFont>
    <p:embeddedFont>
      <p:font typeface="Roboto"/>
      <p:regular r:id="rId201316"/>
    </p:embeddedFont>
    <p:embeddedFont>
      <p:font typeface="Roboto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634207"/>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Legal Document Repository</a:t>
            </a:r>
            <a:endParaRPr lang="en-US" sz="2750" dirty="0"/>
          </a:p>
        </p:txBody>
      </p:sp>
      <p:sp>
        <p:nvSpPr>
          <p:cNvPr id="3" name="Text 1"/>
          <p:cNvSpPr/>
          <p:nvPr/>
        </p:nvSpPr>
        <p:spPr>
          <a:xfrm>
            <a:off x="496119" y="2360712"/>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Efficient storage and retrieval of legal documents using advanced algorithms</a:t>
            </a:r>
            <a:endParaRPr lang="en-US" sz="1100" dirty="0"/>
          </a:p>
        </p:txBody>
      </p:sp>
      <p:pic>
        <p:nvPicPr>
          <p:cNvPr id="4" name="Image 0" descr="preencoded.png">    </p:cNvPr>
          <p:cNvPicPr>
            <a:picLocks noChangeAspect="1"/>
          </p:cNvPicPr>
          <p:nvPr/>
        </p:nvPicPr>
        <p:blipFill>
          <a:blip r:embed="rId1"/>
          <a:stretch>
            <a:fillRect/>
          </a:stretch>
        </p:blipFill>
        <p:spPr>
          <a:xfrm>
            <a:off x="496119" y="2746995"/>
            <a:ext cx="1233339" cy="762223"/>
          </a:xfrm>
          <a:prstGeom prst="rect">
            <a:avLst/>
          </a:prstGeom>
        </p:spPr>
      </p:pic>
      <p:sp>
        <p:nvSpPr>
          <p:cNvPr id="5" name="Text 2"/>
          <p:cNvSpPr/>
          <p:nvPr/>
        </p:nvSpPr>
        <p:spPr>
          <a:xfrm>
            <a:off x="1906637" y="2746995"/>
            <a:ext cx="6741244" cy="221456"/>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Team</a:t>
            </a:r>
            <a:endParaRPr lang="en-US" sz="1350" dirty="0"/>
          </a:p>
        </p:txBody>
      </p:sp>
      <p:sp>
        <p:nvSpPr>
          <p:cNvPr id="6" name="Text 3"/>
          <p:cNvSpPr/>
          <p:nvPr/>
        </p:nvSpPr>
        <p:spPr>
          <a:xfrm>
            <a:off x="1906637" y="3053507"/>
            <a:ext cx="6741244"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Busala Laxmi Praveen • Dharani Dhar • N. Nishanth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790328"/>
            <a:ext cx="4722763"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Abstract</a:t>
            </a:r>
            <a:endParaRPr lang="en-US" sz="2750" dirty="0"/>
          </a:p>
        </p:txBody>
      </p:sp>
      <p:sp>
        <p:nvSpPr>
          <p:cNvPr id="4" name="Text 1"/>
          <p:cNvSpPr/>
          <p:nvPr/>
        </p:nvSpPr>
        <p:spPr>
          <a:xfrm>
            <a:off x="496119" y="2445916"/>
            <a:ext cx="4722763"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Law firms and courts manage thousands of documents—manual search is slow and inefficient. This system digitizes legal documents and enables fast retrieval using efficient search algorithms, improving organization, reducing search time, and ensuring quick access to legal information.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377107"/>
            <a:ext cx="4722763"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Problem Statement</a:t>
            </a:r>
            <a:endParaRPr lang="en-US" sz="2750" dirty="0"/>
          </a:p>
        </p:txBody>
      </p:sp>
      <p:sp>
        <p:nvSpPr>
          <p:cNvPr id="4" name="Shape 1"/>
          <p:cNvSpPr/>
          <p:nvPr/>
        </p:nvSpPr>
        <p:spPr>
          <a:xfrm>
            <a:off x="3925119" y="2032695"/>
            <a:ext cx="2290465" cy="1733624"/>
          </a:xfrm>
          <a:prstGeom prst="roundRect">
            <a:avLst>
              <a:gd name="adj" fmla="val 3435"/>
            </a:avLst>
          </a:prstGeom>
          <a:solidFill>
            <a:srgbClr val="E1E1EA"/>
          </a:solidFill>
          <a:ln w="4763">
            <a:solidFill>
              <a:srgbClr val="C7C7D0"/>
            </a:solidFill>
            <a:prstDash val="solid"/>
          </a:ln>
        </p:spPr>
      </p:sp>
      <p:sp>
        <p:nvSpPr>
          <p:cNvPr id="5" name="Text 2"/>
          <p:cNvSpPr/>
          <p:nvPr/>
        </p:nvSpPr>
        <p:spPr>
          <a:xfrm>
            <a:off x="4071640" y="2179216"/>
            <a:ext cx="1997422" cy="221456"/>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Core Challenges</a:t>
            </a:r>
            <a:endParaRPr lang="en-US" sz="1350" dirty="0"/>
          </a:p>
        </p:txBody>
      </p:sp>
      <p:sp>
        <p:nvSpPr>
          <p:cNvPr id="6" name="Text 3"/>
          <p:cNvSpPr/>
          <p:nvPr/>
        </p:nvSpPr>
        <p:spPr>
          <a:xfrm>
            <a:off x="4071640" y="2485727"/>
            <a:ext cx="1997422"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Time-consuming manual searching; duplicate records; poor organization; keyword search failure; slow retrieval.</a:t>
            </a:r>
            <a:endParaRPr lang="en-US" sz="1100" dirty="0"/>
          </a:p>
        </p:txBody>
      </p:sp>
      <p:sp>
        <p:nvSpPr>
          <p:cNvPr id="7" name="Shape 4"/>
          <p:cNvSpPr/>
          <p:nvPr/>
        </p:nvSpPr>
        <p:spPr>
          <a:xfrm>
            <a:off x="6357342" y="2032695"/>
            <a:ext cx="2290539" cy="1733624"/>
          </a:xfrm>
          <a:prstGeom prst="roundRect">
            <a:avLst>
              <a:gd name="adj" fmla="val 3435"/>
            </a:avLst>
          </a:prstGeom>
          <a:solidFill>
            <a:srgbClr val="E1E1EA"/>
          </a:solidFill>
          <a:ln w="4763">
            <a:solidFill>
              <a:srgbClr val="C7C7D0"/>
            </a:solidFill>
            <a:prstDash val="solid"/>
          </a:ln>
        </p:spPr>
      </p:sp>
      <p:sp>
        <p:nvSpPr>
          <p:cNvPr id="8" name="Text 5"/>
          <p:cNvSpPr/>
          <p:nvPr/>
        </p:nvSpPr>
        <p:spPr>
          <a:xfrm>
            <a:off x="6503863" y="2179216"/>
            <a:ext cx="1997497" cy="221456"/>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Proposed Solution</a:t>
            </a:r>
            <a:endParaRPr lang="en-US" sz="1350" dirty="0"/>
          </a:p>
        </p:txBody>
      </p:sp>
      <p:sp>
        <p:nvSpPr>
          <p:cNvPr id="9" name="Text 6"/>
          <p:cNvSpPr/>
          <p:nvPr/>
        </p:nvSpPr>
        <p:spPr>
          <a:xfrm>
            <a:off x="6503863" y="2485727"/>
            <a:ext cx="1997497"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A repository that stores legal documents and supports fast searching, filtering, and retrieval using efficient data structures and advanced algorithms.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6119" y="1128415"/>
            <a:ext cx="3053135" cy="2886670"/>
          </a:xfrm>
          <a:prstGeom prst="rect">
            <a:avLst/>
          </a:prstGeom>
        </p:spPr>
      </p:pic>
      <p:sp>
        <p:nvSpPr>
          <p:cNvPr id="3" name="Text 0"/>
          <p:cNvSpPr/>
          <p:nvPr/>
        </p:nvSpPr>
        <p:spPr>
          <a:xfrm>
            <a:off x="3899892" y="1659285"/>
            <a:ext cx="4752677"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Key Functionalities</a:t>
            </a:r>
            <a:endParaRPr lang="en-US" sz="2750" dirty="0"/>
          </a:p>
        </p:txBody>
      </p:sp>
      <p:sp>
        <p:nvSpPr>
          <p:cNvPr id="4" name="Text 1"/>
          <p:cNvSpPr/>
          <p:nvPr/>
        </p:nvSpPr>
        <p:spPr>
          <a:xfrm>
            <a:off x="3899892" y="2244030"/>
            <a:ext cx="4752677" cy="1332309"/>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3C3939"/>
                </a:solidFill>
                <a:latin typeface="Roboto" pitchFamily="34" charset="0"/>
                <a:ea typeface="Roboto" pitchFamily="34" charset="-122"/>
                <a:cs typeface="Roboto" pitchFamily="34" charset="-120"/>
              </a:rPr>
              <a:t>User login (optional)</a:t>
            </a:r>
            <a:endParaRPr lang="en-US" sz="1100" dirty="0"/>
          </a:p>
          <a:p>
            <a:pPr algn="l" marL="223520" indent="-223520">
              <a:lnSpc>
                <a:spcPct val="133000"/>
              </a:lnSpc>
              <a:buSzPct val="100000"/>
              <a:buChar char="•"/>
            </a:pPr>
            <a:r>
              <a:rPr lang="en-US" sz="1100" dirty="0">
                <a:solidFill>
                  <a:srgbClr val="3C3939"/>
                </a:solidFill>
                <a:latin typeface="Roboto" pitchFamily="34" charset="0"/>
                <a:ea typeface="Roboto" pitchFamily="34" charset="-122"/>
                <a:cs typeface="Roboto" pitchFamily="34" charset="-120"/>
              </a:rPr>
              <a:t>Add, update, delete documents</a:t>
            </a:r>
            <a:endParaRPr lang="en-US" sz="1100" dirty="0"/>
          </a:p>
          <a:p>
            <a:pPr algn="l" marL="223520" indent="-223520">
              <a:lnSpc>
                <a:spcPct val="133000"/>
              </a:lnSpc>
              <a:buSzPct val="100000"/>
              <a:buChar char="•"/>
            </a:pPr>
            <a:r>
              <a:rPr lang="en-US" sz="1100" dirty="0">
                <a:solidFill>
                  <a:srgbClr val="3C3939"/>
                </a:solidFill>
                <a:latin typeface="Roboto" pitchFamily="34" charset="0"/>
                <a:ea typeface="Roboto" pitchFamily="34" charset="-122"/>
                <a:cs typeface="Roboto" pitchFamily="34" charset="-120"/>
              </a:rPr>
              <a:t>Search by ID, case number, client, lawyer, keywords, court</a:t>
            </a:r>
            <a:endParaRPr lang="en-US" sz="1100" dirty="0"/>
          </a:p>
          <a:p>
            <a:pPr algn="l" marL="223520" indent="-223520">
              <a:lnSpc>
                <a:spcPct val="133000"/>
              </a:lnSpc>
              <a:buSzPct val="100000"/>
              <a:buChar char="•"/>
            </a:pPr>
            <a:r>
              <a:rPr lang="en-US" sz="1100" dirty="0">
                <a:solidFill>
                  <a:srgbClr val="3C3939"/>
                </a:solidFill>
                <a:latin typeface="Roboto" pitchFamily="34" charset="0"/>
                <a:ea typeface="Roboto" pitchFamily="34" charset="-122"/>
                <a:cs typeface="Roboto" pitchFamily="34" charset="-120"/>
              </a:rPr>
              <a:t>Keyword search, sort, view all</a:t>
            </a:r>
            <a:endParaRPr lang="en-US" sz="1100" dirty="0"/>
          </a:p>
          <a:p>
            <a:pPr algn="l" marL="223520" indent="-223520">
              <a:lnSpc>
                <a:spcPct val="133000"/>
              </a:lnSpc>
              <a:buSzPct val="100000"/>
              <a:buChar char="•"/>
            </a:pPr>
            <a:r>
              <a:rPr lang="en-US" sz="1100" dirty="0">
                <a:solidFill>
                  <a:srgbClr val="3C3939"/>
                </a:solidFill>
                <a:latin typeface="Roboto" pitchFamily="34" charset="0"/>
                <a:ea typeface="Roboto" pitchFamily="34" charset="-122"/>
                <a:cs typeface="Roboto" pitchFamily="34" charset="-120"/>
              </a:rPr>
              <a:t>Display search time &amp; generate results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1521842"/>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Tools &amp; Technologies</a:t>
            </a:r>
            <a:endParaRPr lang="en-US" sz="2750" dirty="0"/>
          </a:p>
        </p:txBody>
      </p:sp>
      <p:pic>
        <p:nvPicPr>
          <p:cNvPr id="3" name="Image 0" descr="preencoded.png">    </p:cNvPr>
          <p:cNvPicPr>
            <a:picLocks noChangeAspect="1"/>
          </p:cNvPicPr>
          <p:nvPr/>
        </p:nvPicPr>
        <p:blipFill>
          <a:blip r:embed="rId1"/>
          <a:stretch>
            <a:fillRect/>
          </a:stretch>
        </p:blipFill>
        <p:spPr>
          <a:xfrm>
            <a:off x="496119" y="2248346"/>
            <a:ext cx="419100" cy="523875"/>
          </a:xfrm>
          <a:prstGeom prst="rect">
            <a:avLst/>
          </a:prstGeom>
        </p:spPr>
      </p:pic>
      <p:sp>
        <p:nvSpPr>
          <p:cNvPr id="4" name="Text 1"/>
          <p:cNvSpPr/>
          <p:nvPr/>
        </p:nvSpPr>
        <p:spPr>
          <a:xfrm>
            <a:off x="1092398" y="2248346"/>
            <a:ext cx="1308720" cy="221456"/>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Programming</a:t>
            </a:r>
            <a:endParaRPr lang="en-US" sz="1350" dirty="0"/>
          </a:p>
        </p:txBody>
      </p:sp>
      <p:sp>
        <p:nvSpPr>
          <p:cNvPr id="5" name="Text 2"/>
          <p:cNvSpPr/>
          <p:nvPr/>
        </p:nvSpPr>
        <p:spPr>
          <a:xfrm>
            <a:off x="1092398" y="2554858"/>
            <a:ext cx="1308720"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Java</a:t>
            </a:r>
            <a:endParaRPr lang="en-US" sz="1100" dirty="0"/>
          </a:p>
        </p:txBody>
      </p:sp>
      <p:pic>
        <p:nvPicPr>
          <p:cNvPr id="6" name="Image 1" descr="preencoded.png">    </p:cNvPr>
          <p:cNvPicPr>
            <a:picLocks noChangeAspect="1"/>
          </p:cNvPicPr>
          <p:nvPr/>
        </p:nvPicPr>
        <p:blipFill>
          <a:blip r:embed="rId2"/>
          <a:stretch>
            <a:fillRect/>
          </a:stretch>
        </p:blipFill>
        <p:spPr>
          <a:xfrm>
            <a:off x="2578298" y="2248346"/>
            <a:ext cx="419100" cy="523875"/>
          </a:xfrm>
          <a:prstGeom prst="rect">
            <a:avLst/>
          </a:prstGeom>
        </p:spPr>
      </p:pic>
      <p:sp>
        <p:nvSpPr>
          <p:cNvPr id="7" name="Text 3"/>
          <p:cNvSpPr/>
          <p:nvPr/>
        </p:nvSpPr>
        <p:spPr>
          <a:xfrm>
            <a:off x="3174578" y="2248346"/>
            <a:ext cx="1308795" cy="221456"/>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IDE</a:t>
            </a:r>
            <a:endParaRPr lang="en-US" sz="1350" dirty="0"/>
          </a:p>
        </p:txBody>
      </p:sp>
      <p:sp>
        <p:nvSpPr>
          <p:cNvPr id="8" name="Text 4"/>
          <p:cNvSpPr/>
          <p:nvPr/>
        </p:nvSpPr>
        <p:spPr>
          <a:xfrm>
            <a:off x="3174578" y="2554858"/>
            <a:ext cx="130879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IntelliJ IDEA / VS Code</a:t>
            </a:r>
            <a:endParaRPr lang="en-US" sz="1100" dirty="0"/>
          </a:p>
        </p:txBody>
      </p:sp>
      <p:pic>
        <p:nvPicPr>
          <p:cNvPr id="9" name="Image 2" descr="preencoded.png">    </p:cNvPr>
          <p:cNvPicPr>
            <a:picLocks noChangeAspect="1"/>
          </p:cNvPicPr>
          <p:nvPr/>
        </p:nvPicPr>
        <p:blipFill>
          <a:blip r:embed="rId3"/>
          <a:stretch>
            <a:fillRect/>
          </a:stretch>
        </p:blipFill>
        <p:spPr>
          <a:xfrm>
            <a:off x="4660553" y="2248346"/>
            <a:ext cx="419100" cy="523875"/>
          </a:xfrm>
          <a:prstGeom prst="rect">
            <a:avLst/>
          </a:prstGeom>
        </p:spPr>
      </p:pic>
      <p:sp>
        <p:nvSpPr>
          <p:cNvPr id="10" name="Text 5"/>
          <p:cNvSpPr/>
          <p:nvPr/>
        </p:nvSpPr>
        <p:spPr>
          <a:xfrm>
            <a:off x="5256833" y="2248346"/>
            <a:ext cx="1308795" cy="221456"/>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Algorithms</a:t>
            </a:r>
            <a:endParaRPr lang="en-US" sz="1350" dirty="0"/>
          </a:p>
        </p:txBody>
      </p:sp>
      <p:sp>
        <p:nvSpPr>
          <p:cNvPr id="11" name="Text 6"/>
          <p:cNvSpPr/>
          <p:nvPr/>
        </p:nvSpPr>
        <p:spPr>
          <a:xfrm>
            <a:off x="5256833" y="2554858"/>
            <a:ext cx="1308795"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KMP • Rabin-Karp • Binary Search • Merge Sort</a:t>
            </a:r>
            <a:endParaRPr lang="en-US" sz="1100" dirty="0"/>
          </a:p>
        </p:txBody>
      </p:sp>
      <p:pic>
        <p:nvPicPr>
          <p:cNvPr id="12" name="Image 3" descr="preencoded.png">    </p:cNvPr>
          <p:cNvPicPr>
            <a:picLocks noChangeAspect="1"/>
          </p:cNvPicPr>
          <p:nvPr/>
        </p:nvPicPr>
        <p:blipFill>
          <a:blip r:embed="rId4"/>
          <a:stretch>
            <a:fillRect/>
          </a:stretch>
        </p:blipFill>
        <p:spPr>
          <a:xfrm>
            <a:off x="6742807" y="2248346"/>
            <a:ext cx="419100" cy="523875"/>
          </a:xfrm>
          <a:prstGeom prst="rect">
            <a:avLst/>
          </a:prstGeom>
        </p:spPr>
      </p:pic>
      <p:sp>
        <p:nvSpPr>
          <p:cNvPr id="13" name="Text 7"/>
          <p:cNvSpPr/>
          <p:nvPr/>
        </p:nvSpPr>
        <p:spPr>
          <a:xfrm>
            <a:off x="7339087" y="2248346"/>
            <a:ext cx="1308795" cy="221456"/>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Data Structures</a:t>
            </a:r>
            <a:endParaRPr lang="en-US" sz="1350" dirty="0"/>
          </a:p>
        </p:txBody>
      </p:sp>
      <p:sp>
        <p:nvSpPr>
          <p:cNvPr id="14" name="Text 8"/>
          <p:cNvSpPr/>
          <p:nvPr/>
        </p:nvSpPr>
        <p:spPr>
          <a:xfrm>
            <a:off x="7339087" y="2554858"/>
            <a:ext cx="1308795"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Arrays • Linked Lists • Hash Tables • Trie (keyword search)</a:t>
            </a:r>
            <a:endParaRPr lang="en-US" sz="1100" dirty="0"/>
          </a:p>
        </p:txBody>
      </p:sp>
      <p:sp>
        <p:nvSpPr>
          <p:cNvPr id="15" name="Text 9"/>
          <p:cNvSpPr/>
          <p:nvPr/>
        </p:nvSpPr>
        <p:spPr>
          <a:xfrm>
            <a:off x="496119" y="3394770"/>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Aligned with DSA-3 focus on efficient string searching and advanced algorithm selection.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640333"/>
            <a:ext cx="4722763"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Expected Outcome</a:t>
            </a:r>
            <a:endParaRPr lang="en-US" sz="2750" dirty="0"/>
          </a:p>
        </p:txBody>
      </p:sp>
      <p:sp>
        <p:nvSpPr>
          <p:cNvPr id="4" name="Shape 1"/>
          <p:cNvSpPr/>
          <p:nvPr/>
        </p:nvSpPr>
        <p:spPr>
          <a:xfrm>
            <a:off x="496119" y="1295921"/>
            <a:ext cx="1479724" cy="1983656"/>
          </a:xfrm>
          <a:prstGeom prst="roundRect">
            <a:avLst>
              <a:gd name="adj" fmla="val 4024"/>
            </a:avLst>
          </a:prstGeom>
          <a:solidFill>
            <a:srgbClr val="FFFFFF">
              <a:alpha val="95000"/>
            </a:srgbClr>
          </a:solidFill>
          <a:ln w="19050">
            <a:solidFill>
              <a:srgbClr val="C7C7D0"/>
            </a:solidFill>
            <a:prstDash val="solid"/>
          </a:ln>
        </p:spPr>
      </p:sp>
      <p:sp>
        <p:nvSpPr>
          <p:cNvPr id="5" name="Text 2"/>
          <p:cNvSpPr/>
          <p:nvPr/>
        </p:nvSpPr>
        <p:spPr>
          <a:xfrm>
            <a:off x="656927" y="1456730"/>
            <a:ext cx="1158106" cy="442913"/>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Efficient Storage</a:t>
            </a:r>
            <a:endParaRPr lang="en-US" sz="1350" dirty="0"/>
          </a:p>
        </p:txBody>
      </p:sp>
      <p:sp>
        <p:nvSpPr>
          <p:cNvPr id="6" name="Text 3"/>
          <p:cNvSpPr/>
          <p:nvPr/>
        </p:nvSpPr>
        <p:spPr>
          <a:xfrm>
            <a:off x="656927" y="1984697"/>
            <a:ext cx="1158106"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Store legal documents in an organized, scalable digital repository.</a:t>
            </a:r>
            <a:endParaRPr lang="en-US" sz="1100" dirty="0"/>
          </a:p>
        </p:txBody>
      </p:sp>
      <p:sp>
        <p:nvSpPr>
          <p:cNvPr id="7" name="Shape 4"/>
          <p:cNvSpPr/>
          <p:nvPr/>
        </p:nvSpPr>
        <p:spPr>
          <a:xfrm>
            <a:off x="2117601" y="1295921"/>
            <a:ext cx="1479724" cy="1983656"/>
          </a:xfrm>
          <a:prstGeom prst="roundRect">
            <a:avLst>
              <a:gd name="adj" fmla="val 4024"/>
            </a:avLst>
          </a:prstGeom>
          <a:solidFill>
            <a:srgbClr val="FFFFFF">
              <a:alpha val="95000"/>
            </a:srgbClr>
          </a:solidFill>
          <a:ln w="19050">
            <a:solidFill>
              <a:srgbClr val="C7C7D0"/>
            </a:solidFill>
            <a:prstDash val="solid"/>
          </a:ln>
        </p:spPr>
      </p:sp>
      <p:sp>
        <p:nvSpPr>
          <p:cNvPr id="8" name="Text 5"/>
          <p:cNvSpPr/>
          <p:nvPr/>
        </p:nvSpPr>
        <p:spPr>
          <a:xfrm>
            <a:off x="2278410" y="1456730"/>
            <a:ext cx="1158106" cy="221456"/>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Faster Search</a:t>
            </a:r>
            <a:endParaRPr lang="en-US" sz="1350" dirty="0"/>
          </a:p>
        </p:txBody>
      </p:sp>
      <p:sp>
        <p:nvSpPr>
          <p:cNvPr id="9" name="Text 6"/>
          <p:cNvSpPr/>
          <p:nvPr/>
        </p:nvSpPr>
        <p:spPr>
          <a:xfrm>
            <a:off x="2278410" y="1763241"/>
            <a:ext cx="1158106"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Significantly reduced retrieval time versus manual search.</a:t>
            </a:r>
            <a:endParaRPr lang="en-US" sz="1100" dirty="0"/>
          </a:p>
        </p:txBody>
      </p:sp>
      <p:sp>
        <p:nvSpPr>
          <p:cNvPr id="10" name="Shape 7"/>
          <p:cNvSpPr/>
          <p:nvPr/>
        </p:nvSpPr>
        <p:spPr>
          <a:xfrm>
            <a:off x="3739083" y="1295921"/>
            <a:ext cx="1479724" cy="1983656"/>
          </a:xfrm>
          <a:prstGeom prst="roundRect">
            <a:avLst>
              <a:gd name="adj" fmla="val 4024"/>
            </a:avLst>
          </a:prstGeom>
          <a:solidFill>
            <a:srgbClr val="FFFFFF">
              <a:alpha val="95000"/>
            </a:srgbClr>
          </a:solidFill>
          <a:ln w="19050">
            <a:solidFill>
              <a:srgbClr val="C7C7D0"/>
            </a:solidFill>
            <a:prstDash val="solid"/>
          </a:ln>
        </p:spPr>
      </p:sp>
      <p:sp>
        <p:nvSpPr>
          <p:cNvPr id="11" name="Text 8"/>
          <p:cNvSpPr/>
          <p:nvPr/>
        </p:nvSpPr>
        <p:spPr>
          <a:xfrm>
            <a:off x="3899892" y="1456730"/>
            <a:ext cx="1158106" cy="442913"/>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Improved Organization</a:t>
            </a:r>
            <a:endParaRPr lang="en-US" sz="1350" dirty="0"/>
          </a:p>
        </p:txBody>
      </p:sp>
      <p:sp>
        <p:nvSpPr>
          <p:cNvPr id="12" name="Text 9"/>
          <p:cNvSpPr/>
          <p:nvPr/>
        </p:nvSpPr>
        <p:spPr>
          <a:xfrm>
            <a:off x="3899892" y="1984697"/>
            <a:ext cx="1158106"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Better document indexing, deduplication, and sorting.</a:t>
            </a:r>
            <a:endParaRPr lang="en-US" sz="1100" dirty="0"/>
          </a:p>
        </p:txBody>
      </p:sp>
      <p:sp>
        <p:nvSpPr>
          <p:cNvPr id="13" name="Shape 10"/>
          <p:cNvSpPr/>
          <p:nvPr/>
        </p:nvSpPr>
        <p:spPr>
          <a:xfrm>
            <a:off x="496119" y="3421335"/>
            <a:ext cx="4722688" cy="1081757"/>
          </a:xfrm>
          <a:prstGeom prst="roundRect">
            <a:avLst>
              <a:gd name="adj" fmla="val 5504"/>
            </a:avLst>
          </a:prstGeom>
          <a:solidFill>
            <a:srgbClr val="FFFFFF">
              <a:alpha val="95000"/>
            </a:srgbClr>
          </a:solidFill>
          <a:ln w="19050">
            <a:solidFill>
              <a:srgbClr val="C7C7D0"/>
            </a:solidFill>
            <a:prstDash val="solid"/>
          </a:ln>
        </p:spPr>
      </p:sp>
      <p:sp>
        <p:nvSpPr>
          <p:cNvPr id="14" name="Text 11"/>
          <p:cNvSpPr/>
          <p:nvPr/>
        </p:nvSpPr>
        <p:spPr>
          <a:xfrm>
            <a:off x="656927" y="3582144"/>
            <a:ext cx="4401071" cy="221456"/>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DSA Demonstration</a:t>
            </a:r>
            <a:endParaRPr lang="en-US" sz="1350" dirty="0"/>
          </a:p>
        </p:txBody>
      </p:sp>
      <p:sp>
        <p:nvSpPr>
          <p:cNvPr id="15" name="Text 12"/>
          <p:cNvSpPr/>
          <p:nvPr/>
        </p:nvSpPr>
        <p:spPr>
          <a:xfrm>
            <a:off x="656927" y="3888656"/>
            <a:ext cx="440107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Showcases advanced string-search algorithms and scalable design for law firms and courts.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6119" y="1432545"/>
            <a:ext cx="3902943" cy="2278335"/>
          </a:xfrm>
          <a:prstGeom prst="rect">
            <a:avLst/>
          </a:prstGeom>
        </p:spPr>
      </p:pic>
      <p:sp>
        <p:nvSpPr>
          <p:cNvPr id="3" name="Text 0"/>
          <p:cNvSpPr/>
          <p:nvPr/>
        </p:nvSpPr>
        <p:spPr>
          <a:xfrm>
            <a:off x="4749701" y="1687562"/>
            <a:ext cx="3902943" cy="442987"/>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Thank you</a:t>
            </a:r>
            <a:endParaRPr lang="en-US" sz="2750" dirty="0"/>
          </a:p>
        </p:txBody>
      </p:sp>
      <p:sp>
        <p:nvSpPr>
          <p:cNvPr id="4" name="Text 1"/>
          <p:cNvSpPr/>
          <p:nvPr/>
        </p:nvSpPr>
        <p:spPr>
          <a:xfrm>
            <a:off x="4749701" y="2272308"/>
            <a:ext cx="4360143" cy="226814"/>
          </a:xfrm>
          <a:prstGeom prst="rect">
            <a:avLst/>
          </a:prstGeom>
          <a:noFill/>
          <a:ln/>
        </p:spPr>
        <p:txBody>
          <a:bodyPr wrap="none" lIns="0" tIns="0" rIns="0" bIns="0" rtlCol="0" anchor="t"/>
          <a:lstStyle/>
          <a:p>
            <a:pPr algn="l" indent="0" marL="0">
              <a:lnSpc>
                <a:spcPct val="133000"/>
              </a:lnSpc>
              <a:buNone/>
            </a:pPr>
            <a:r>
              <a:rPr lang="en-US" sz="1100" dirty="0">
                <a:solidFill>
                  <a:srgbClr val="3C3939"/>
                </a:solidFill>
                <a:latin typeface="Roboto" pitchFamily="34" charset="0"/>
                <a:ea typeface="Roboto" pitchFamily="34" charset="-122"/>
                <a:cs typeface="Roboto" pitchFamily="34" charset="-120"/>
              </a:rPr>
              <a:t>Questions or feedback?</a:t>
            </a:r>
            <a:endParaRPr lang="en-US" sz="1100" dirty="0"/>
          </a:p>
        </p:txBody>
      </p:sp>
      <p:sp>
        <p:nvSpPr>
          <p:cNvPr id="5" name="Shape 2"/>
          <p:cNvSpPr/>
          <p:nvPr/>
        </p:nvSpPr>
        <p:spPr>
          <a:xfrm>
            <a:off x="4749701" y="2658591"/>
            <a:ext cx="3902943" cy="779562"/>
          </a:xfrm>
          <a:prstGeom prst="roundRect">
            <a:avLst>
              <a:gd name="adj" fmla="val 7638"/>
            </a:avLst>
          </a:prstGeom>
          <a:solidFill>
            <a:srgbClr val="E1E1EA"/>
          </a:solidFill>
          <a:ln/>
        </p:spPr>
      </p:sp>
      <p:pic>
        <p:nvPicPr>
          <p:cNvPr id="6" name="Image 1" descr="preencoded.png">    </p:cNvPr>
          <p:cNvPicPr>
            <a:picLocks noChangeAspect="1"/>
          </p:cNvPicPr>
          <p:nvPr/>
        </p:nvPicPr>
        <p:blipFill>
          <a:blip r:embed="rId2"/>
          <a:stretch>
            <a:fillRect/>
          </a:stretch>
        </p:blipFill>
        <p:spPr>
          <a:xfrm>
            <a:off x="4891460" y="2873648"/>
            <a:ext cx="177180" cy="141759"/>
          </a:xfrm>
          <a:prstGeom prst="rect">
            <a:avLst/>
          </a:prstGeom>
        </p:spPr>
      </p:pic>
      <p:sp>
        <p:nvSpPr>
          <p:cNvPr id="7" name="Text 3"/>
          <p:cNvSpPr/>
          <p:nvPr/>
        </p:nvSpPr>
        <p:spPr>
          <a:xfrm>
            <a:off x="5210398" y="2821558"/>
            <a:ext cx="330048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000000"/>
                </a:solidFill>
                <a:latin typeface="Roboto" pitchFamily="34" charset="0"/>
                <a:ea typeface="Roboto" pitchFamily="34" charset="-122"/>
                <a:cs typeface="Roboto" pitchFamily="34" charset="-120"/>
              </a:rPr>
              <a:t>Team: Busala Laxmi Praveen • Dharani Dhar • N. Nishanth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2026-08-01T06:43:04Z</dcterms:created>
  <dcterms:modified xsi:type="dcterms:W3CDTF">2026-08-01T06:43:04Z</dcterms:modified>
</cp:coreProperties>
</file>